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1"/>
  </p:sldMasterIdLst>
  <p:sldIdLst>
    <p:sldId id="256" r:id="rId2"/>
    <p:sldId id="257" r:id="rId3"/>
    <p:sldId id="258" r:id="rId4"/>
    <p:sldId id="259" r:id="rId5"/>
    <p:sldId id="269" r:id="rId6"/>
    <p:sldId id="262" r:id="rId7"/>
    <p:sldId id="264" r:id="rId8"/>
    <p:sldId id="263" r:id="rId9"/>
    <p:sldId id="265" r:id="rId10"/>
    <p:sldId id="266" r:id="rId11"/>
    <p:sldId id="267" r:id="rId12"/>
    <p:sldId id="268" r:id="rId13"/>
    <p:sldId id="270" r:id="rId14"/>
    <p:sldId id="275" r:id="rId15"/>
    <p:sldId id="274" r:id="rId16"/>
    <p:sldId id="276" r:id="rId17"/>
    <p:sldId id="272" r:id="rId18"/>
    <p:sldId id="26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92"/>
    <p:restoredTop sz="94658"/>
  </p:normalViewPr>
  <p:slideViewPr>
    <p:cSldViewPr snapToGrid="0">
      <p:cViewPr>
        <p:scale>
          <a:sx n="126" d="100"/>
          <a:sy n="126" d="100"/>
        </p:scale>
        <p:origin x="65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Lst>
          </p:cNvPr>
          <p:cNvSpPr/>
          <p:nvPr/>
        </p:nvSpPr>
        <p:spPr>
          <a:xfrm>
            <a:off x="5067300" y="-429"/>
            <a:ext cx="7142987" cy="6857571"/>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Lst>
          </p:cNvPr>
          <p:cNvSpPr/>
          <p:nvPr/>
        </p:nvSpPr>
        <p:spPr>
          <a:xfrm rot="10800000">
            <a:off x="5067300" y="4571999"/>
            <a:ext cx="7158340"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bg1"/>
                </a:solidFill>
              </a:defRPr>
            </a:lvl1pPr>
          </a:lstStyle>
          <a:p>
            <a:fld id="{22927AFB-A171-440E-85AE-8173A49EBA6A}"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9703037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274BCA4-07E8-484C-A268-7A7F4DBB4C79}"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71461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bg1"/>
                </a:solidFill>
                <a:latin typeface="+mj-lt"/>
              </a:defRPr>
            </a:lvl1pPr>
          </a:lstStyle>
          <a:p>
            <a:pPr lvl="0"/>
            <a:r>
              <a:rPr lang="en-US" dirty="0"/>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bg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bg1"/>
                </a:solidFill>
              </a:defRPr>
            </a:lvl1pPr>
          </a:lstStyle>
          <a:p>
            <a:fld id="{8EC5E238-6443-4E66-ABD7-AFE41A3FA712}" type="datetime2">
              <a:rPr lang="en-US" smtClean="0"/>
              <a:t>Sunday, December 14, 2025</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817641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bg1"/>
                </a:solidFill>
              </a:defRPr>
            </a:lvl1pPr>
          </a:lstStyle>
          <a:p>
            <a:fld id="{F2D689D1-54B3-41D9-B112-32329B9B3CC6}"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56108590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bg1"/>
                </a:solidFill>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bg1"/>
                </a:solidFill>
              </a:defRPr>
            </a:lvl1pPr>
          </a:lstStyle>
          <a:p>
            <a:fld id="{E144AFCF-5D00-4E8A-BE78-0A3382672AA6}" type="datetime2">
              <a:rPr lang="en-US" smtClean="0"/>
              <a:t>Sunday, December 14, 2025</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71575342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bg1"/>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F3DE8AB4-3D9C-4366-A8D9-9A4F01D11121}"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819876497"/>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44B8E2B-A9B5-DCE0-5C06-E99F762397CB}"/>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C38FEA-146D-53B3-36B0-5CBD8040636E}"/>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dirty="0"/>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5259F214-985C-4E7A-8724-986944FA2171}" type="datetime2">
              <a:rPr lang="en-US" smtClean="0"/>
              <a:t>Sunday, December 14, 2025</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884639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7CFA0-C3A1-5564-DD4B-90674874B08D}"/>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4E2F783-0ED7-1F0B-219A-198549E350DD}"/>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258C9C02-FCB9-44E9-9951-263455134367}" type="datetime2">
              <a:rPr lang="en-US" smtClean="0"/>
              <a:t>Sunday, December 14, 2025</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6808582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657600" y="2807208"/>
            <a:ext cx="7644384" cy="3346704"/>
          </a:xfrm>
        </p:spPr>
        <p:txBody>
          <a:bodyPr anchor="t">
            <a:normAutofit/>
          </a:bodyPr>
          <a:lstStyle>
            <a:lvl1pPr>
              <a:lnSpc>
                <a:spcPct val="110000"/>
              </a:lnSpc>
              <a:defRPr sz="54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18A3F06B-6751-4328-A64C-7E682DA41140}"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58635390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CF9D34E2-F5B0-4166-BCAC-F99A4EBB0C26}"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35318571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735CD2-2790-A02E-C1A3-EB251A110779}"/>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02FDF1D-424D-4F55-8CAE-9342A40AFD81}" type="datetime2">
              <a:rPr lang="en-US" smtClean="0"/>
              <a:t>Sunday, December 14, 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3449743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A7019B1F-F9E0-40A8-8123-21681C0812EB}" type="datetime2">
              <a:rPr lang="en-US" smtClean="0"/>
              <a:t>Sunday, December 14,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49654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FF914-ECFF-A4E1-AD86-108676B324D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8606AF-234E-F01C-E350-3E326E5ABE30}"/>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26AF6F-B60F-4C18-B9AB-ED82420774C4}"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32101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CF6005E-1485-423F-B5D4-36E24475CFEE}"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036834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04E31E-DF49-445C-800F-5FFC1FA8170B}"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54271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541D06-5B5C-452D-81B5-D55337162AD4}"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95155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8F4B41-77D5-4516-9B41-E9168C96B23B}"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82327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D37B679-27F6-4DEC-AE7E-AE12D4B5C168}"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63148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68DFF7-84C4-DA92-2628-88F515669E31}"/>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8358C6A-FFB7-7F91-94AA-423822AA8C38}"/>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A318DFB-5F24-4AAB-A84B-D248D5DAC033}"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14624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71C36B-E56C-A499-1D3F-AC8DC09B0AE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C72D07-FB95-F16C-6535-C8AEB3ACAFA0}"/>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71286253-1B6C-4476-BA10-7DFF05BDD8C1}"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24947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41EC5E-2E3A-29A5-7F01-3D098A93FA76}"/>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CDB1A6A-A82E-C28C-BC71-E59067A1D47F}"/>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26721B-6321-48CC-A06F-4DC67D115E8F}"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466044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00FDF4-E04E-45E3-73D7-9BD1BD2BCA87}"/>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DCA41D-9DCB-DD45-31CF-2ACE1D2C681B}"/>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dirty="0"/>
              <a:t>Click to edit Master title style</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p:txBody>
          <a:bodyPr/>
          <a:lstStyle/>
          <a:p>
            <a:r>
              <a:rPr lang="en-US"/>
              <a:t>Sample Footer Text</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03504" y="603504"/>
            <a:ext cx="4643816"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CD5DF956-88B4-4B11-B70D-3316C48FAF0D}" type="datetime2">
              <a:rPr lang="en-US" smtClean="0"/>
              <a:t>Sunday, December 14, 2025</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061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205052-C3B6-6D2C-A5A8-3EFDF993E71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81E3123-7D9E-2A08-F196-CDF340945D9D}"/>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9AB004D8-8BA8-480E-9129-E735C18CC49D}" type="datetime2">
              <a:rPr lang="en-US" smtClean="0"/>
              <a:t>Sunday, December 14,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091322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4A58DCA-69A1-40C7-8F11-9BD47CD4C934}" type="datetime2">
              <a:rPr lang="en-US" smtClean="0"/>
              <a:t>Sunday, December 14,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704194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33DFD5A6-3F5B-4C93-83C0-9BE650DA7164}" type="datetime2">
              <a:rPr lang="en-US" smtClean="0"/>
              <a:t>Sunday, December 14,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77303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70C72-937F-4EEB-59FB-6FC29DF4570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DBABC61-0C94-EB2C-729D-13A2A74C04A2}"/>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CDFE0BFE-5A09-4B35-B85E-8253DEA6CAA6}" type="datetime2">
              <a:rPr lang="en-US" smtClean="0"/>
              <a:t>Sunday, December 14,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287380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16717-EA73-3C76-64BF-8AA29BC563AE}"/>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0460BC6-378A-8F4F-1D44-FA6677F92D4E}"/>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E451324D-67C5-4E93-BC3F-7AE321E5F6D8}" type="datetime2">
              <a:rPr lang="en-US" smtClean="0"/>
              <a:t>Sunday, December 14,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630898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59639FB1-C416-4550-8B7F-818DCA7584C4}" type="datetime2">
              <a:rPr lang="en-US" smtClean="0"/>
              <a:t>Sunday, December 14,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573246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471F3A-3E6D-0DF1-74AB-CC9D04CFAEE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CBED10C-5619-54D2-5D2D-E5D0A3E26E93}"/>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Lst>
          </p:cNvPr>
          <p:cNvSpPr/>
          <p:nvPr/>
        </p:nvSpPr>
        <p:spPr>
          <a:xfrm flipH="1">
            <a:off x="6158536" y="6400799"/>
            <a:ext cx="603346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3DAA390-4D48-496D-9CF9-AA47EC8054B6}"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34206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99FD1-4C4F-942E-5C24-C7F30C3E106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093A5D-CF9E-656F-6E4D-BBE26617BBEC}"/>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3F89BF-AB4A-41EB-BD3C-EE6397432347}"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07548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75F419-3BE9-4269-E538-DB069E0C329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EA2F20-DFC9-8EAE-10DC-BC89113C2D4F}"/>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31C1CA1-E6E1-4903-A39F-729F30B73A81}"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06113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Lst>
          </p:cNvPr>
          <p:cNvSpPr/>
          <p:nvPr/>
        </p:nvSpPr>
        <p:spPr>
          <a:xfrm>
            <a:off x="-18286" y="4719145"/>
            <a:ext cx="12221346" cy="2148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09D80555-5AA0-4039-B1D1-43225C709886}" type="datetime2">
              <a:rPr lang="en-US" smtClean="0"/>
              <a:t>Sunday, December 14,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278677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A3282FB1-48E5-4F0A-9E9C-35DF3C629227}" type="datetime2">
              <a:rPr lang="en-US" smtClean="0"/>
              <a:t>Sunday, December 14,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991516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E0149A69-19C1-4748-AF82-9FE4A85BF936}" type="datetime2">
              <a:rPr lang="en-US" smtClean="0"/>
              <a:t>Sunday, December 14,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593447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AFD00E-68E4-2C52-ADE7-B3CCEEF5D30D}"/>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A70C64-A82F-539E-FA22-E9EDFA88F0CB}"/>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75528E2-81C6-40A8-BAF0-0F7E271EAAEB}" type="datetime2">
              <a:rPr lang="en-US" smtClean="0"/>
              <a:t>Sunday, December 14,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18340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EFC605F-F3B5-44D1-B7F6-31C6B11C8978}" type="datetime2">
              <a:rPr lang="en-US" smtClean="0"/>
              <a:t>Sunday, December 14,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381478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154D5DB-B0AB-4B30-B4E2-CD0D5A147634}" type="datetime2">
              <a:rPr lang="en-US" smtClean="0"/>
              <a:t>Sunday, December 14,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598772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Lst>
          </p:cNvPr>
          <p:cNvSpPr/>
          <p:nvPr/>
        </p:nvSpPr>
        <p:spPr>
          <a:xfrm>
            <a:off x="1009651" y="1028701"/>
            <a:ext cx="10172700"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D579EA1B-07C3-4F43-B7BA-72BA44EE9757}" type="datetime2">
              <a:rPr lang="en-US" smtClean="0"/>
              <a:t>Sunday, December 14, 2025</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811122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bg1"/>
                </a:solidFill>
              </a:defRPr>
            </a:lvl1pPr>
          </a:lstStyle>
          <a:p>
            <a:pPr lvl="0"/>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bg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B7C3807E-EE2A-4FC6-9EE1-019AAE762D48}" type="datetime2">
              <a:rPr lang="en-US" smtClean="0"/>
              <a:t>Sunday, December 14, 2025</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325994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Lst>
          </p:cNvPr>
          <p:cNvSpPr/>
          <p:nvPr/>
        </p:nvSpPr>
        <p:spPr>
          <a:xfrm>
            <a:off x="1009651" y="1028701"/>
            <a:ext cx="10172700" cy="4800598"/>
          </a:xfrm>
          <a:prstGeom prst="rect">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993F7370-1EC1-45B2-A4ED-6E75D0D33CB2}" type="datetime2">
              <a:rPr lang="en-US" smtClean="0"/>
              <a:t>Sunday, December 14, 2025</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135785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731521"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501384"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4DB88F3-C7E5-4A3A-8622-BE18DF2C9CD0}"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302662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731520"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500622"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58457-C0B1-48D7-AA49-8444851E001C}" type="datetime2">
              <a:rPr lang="en-US" smtClean="0"/>
              <a:t>Sunday, December 14, 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27736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E425F8A-070F-4C2E-8BEF-7769438DDE34}" type="datetime2">
              <a:rPr lang="en-US" smtClean="0"/>
              <a:t>Sunday, December 14, 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11824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82FA0DE-C1EF-4C95-BCFB-EDA7D552732F}" type="datetime2">
              <a:rPr lang="en-US" smtClean="0"/>
              <a:t>Sunday, December 14, 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296428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2CA9131-97A4-4253-BF80-685917177C53}"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032358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A2EAB38C-EAAD-4752-A6B6-9F33A31C7FA1}" type="datetime2">
              <a:rPr lang="en-US" smtClean="0"/>
              <a:t>Sunday, December 14, 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628901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0E46A2F-19F0-DFCD-9CE3-04C79F793D8F}"/>
              </a:ext>
            </a:extLst>
          </p:cNvPr>
          <p:cNvSpPr/>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Rectangle 6">
            <a:extLst>
              <a:ext uri="{FF2B5EF4-FFF2-40B4-BE49-F238E27FC236}">
                <a16:creationId xmlns:a16="http://schemas.microsoft.com/office/drawing/2014/main" id="{C51DC8D0-ECB3-9C81-4ADA-D2C30B00B146}"/>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0D6DD4-D4A4-4FD2-90EE-29743B49734D}"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218777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875154-47EA-9315-F160-02DA5541D65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9617130E-6216-789E-BE08-6D1E3E75622B}"/>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812B7D-2375-41E3-8CF6-637C0157FD6F}"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033468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7FA31CB7-48AA-4691-B614-160E906C518A}" type="datetime2">
              <a:rPr lang="en-US" smtClean="0"/>
              <a:t>Sunday, December 14, 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45275558"/>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 id="2147483876" r:id="rId13"/>
    <p:sldLayoutId id="2147483877" r:id="rId14"/>
    <p:sldLayoutId id="2147483878" r:id="rId15"/>
    <p:sldLayoutId id="2147483879" r:id="rId16"/>
    <p:sldLayoutId id="2147483880" r:id="rId17"/>
    <p:sldLayoutId id="2147483881" r:id="rId18"/>
    <p:sldLayoutId id="2147483882" r:id="rId19"/>
    <p:sldLayoutId id="2147483883" r:id="rId20"/>
    <p:sldLayoutId id="2147483884" r:id="rId21"/>
    <p:sldLayoutId id="2147483885" r:id="rId22"/>
    <p:sldLayoutId id="2147483886" r:id="rId23"/>
    <p:sldLayoutId id="2147483887" r:id="rId24"/>
    <p:sldLayoutId id="2147483888" r:id="rId25"/>
    <p:sldLayoutId id="2147483889" r:id="rId26"/>
    <p:sldLayoutId id="2147483890" r:id="rId27"/>
    <p:sldLayoutId id="2147483891" r:id="rId28"/>
    <p:sldLayoutId id="2147483892" r:id="rId29"/>
    <p:sldLayoutId id="2147483893" r:id="rId30"/>
    <p:sldLayoutId id="2147483894" r:id="rId31"/>
    <p:sldLayoutId id="2147483863" r:id="rId32"/>
    <p:sldLayoutId id="2147483895" r:id="rId33"/>
    <p:sldLayoutId id="2147483896" r:id="rId34"/>
    <p:sldLayoutId id="2147483897" r:id="rId35"/>
    <p:sldLayoutId id="2147483898" r:id="rId36"/>
    <p:sldLayoutId id="2147483899" r:id="rId37"/>
    <p:sldLayoutId id="2147483900" r:id="rId38"/>
    <p:sldLayoutId id="2147483901" r:id="rId39"/>
    <p:sldLayoutId id="2147483902" r:id="rId40"/>
    <p:sldLayoutId id="2147483907" r:id="rId41"/>
    <p:sldLayoutId id="2147483903" r:id="rId42"/>
    <p:sldLayoutId id="2147483904" r:id="rId43"/>
    <p:sldLayoutId id="2147483905" r:id="rId44"/>
    <p:sldLayoutId id="2147483906" r:id="rId45"/>
    <p:sldLayoutId id="2147483860" r:id="rId46"/>
    <p:sldLayoutId id="2147483861" r:id="rId47"/>
    <p:sldLayoutId id="2147483862" r:id="rId48"/>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candacegrant2025.shinyapps.io/NYC_311_Requests/" TargetMode="Externa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2DAE1-E658-F18E-8D62-5242D738C410}"/>
              </a:ext>
            </a:extLst>
          </p:cNvPr>
          <p:cNvSpPr>
            <a:spLocks noGrp="1"/>
          </p:cNvSpPr>
          <p:nvPr>
            <p:ph type="ctrTitle"/>
          </p:nvPr>
        </p:nvSpPr>
        <p:spPr/>
        <p:txBody>
          <a:bodyPr anchor="b">
            <a:normAutofit/>
          </a:bodyPr>
          <a:lstStyle/>
          <a:p>
            <a:r>
              <a:rPr lang="en-US" dirty="0"/>
              <a:t>DATA 607-FINAL PROJECT</a:t>
            </a:r>
          </a:p>
        </p:txBody>
      </p:sp>
      <p:sp>
        <p:nvSpPr>
          <p:cNvPr id="3" name="Subtitle 2">
            <a:extLst>
              <a:ext uri="{FF2B5EF4-FFF2-40B4-BE49-F238E27FC236}">
                <a16:creationId xmlns:a16="http://schemas.microsoft.com/office/drawing/2014/main" id="{4EC681A4-ADD6-3E9F-391D-D10BF562F2D0}"/>
              </a:ext>
            </a:extLst>
          </p:cNvPr>
          <p:cNvSpPr>
            <a:spLocks noGrp="1"/>
          </p:cNvSpPr>
          <p:nvPr>
            <p:ph type="subTitle" idx="1"/>
          </p:nvPr>
        </p:nvSpPr>
        <p:spPr/>
        <p:txBody>
          <a:bodyPr anchor="ctr">
            <a:normAutofit/>
          </a:bodyPr>
          <a:lstStyle/>
          <a:p>
            <a:r>
              <a:rPr lang="en-US" dirty="0"/>
              <a:t>Analyzing 311 SERVICE REQUESTS</a:t>
            </a:r>
          </a:p>
        </p:txBody>
      </p:sp>
      <p:sp>
        <p:nvSpPr>
          <p:cNvPr id="8" name="Picture Placeholder 3">
            <a:extLst>
              <a:ext uri="{FF2B5EF4-FFF2-40B4-BE49-F238E27FC236}">
                <a16:creationId xmlns:a16="http://schemas.microsoft.com/office/drawing/2014/main" id="{EF8B3DDB-0AFC-31DF-5122-CB3E4FD169F1}"/>
              </a:ext>
            </a:extLst>
          </p:cNvPr>
          <p:cNvSpPr>
            <a:spLocks noGrp="1"/>
          </p:cNvSpPr>
          <p:nvPr>
            <p:ph type="pic" sz="quarter" idx="13"/>
          </p:nvPr>
        </p:nvSpPr>
        <p:spPr/>
        <p:txBody>
          <a:bodyPr/>
          <a:lstStyle/>
          <a:p>
            <a:endParaRPr lang="en-US"/>
          </a:p>
        </p:txBody>
      </p:sp>
    </p:spTree>
    <p:extLst>
      <p:ext uri="{BB962C8B-B14F-4D97-AF65-F5344CB8AC3E}">
        <p14:creationId xmlns:p14="http://schemas.microsoft.com/office/powerpoint/2010/main" val="3111370717"/>
      </p:ext>
    </p:extLst>
  </p:cSld>
  <p:clrMapOvr>
    <a:masterClrMapping/>
  </p:clrMapOvr>
  <mc:AlternateContent xmlns:mc="http://schemas.openxmlformats.org/markup-compatibility/2006">
    <mc:Choice xmlns:p14="http://schemas.microsoft.com/office/powerpoint/2010/main" Requires="p14">
      <p:transition spd="slow" p14:dur="2000" advTm="9565"/>
    </mc:Choice>
    <mc:Fallback>
      <p:transition spd="slow" advTm="956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3042-22BE-9B4B-C864-85B55B7E13F3}"/>
              </a:ext>
            </a:extLst>
          </p:cNvPr>
          <p:cNvSpPr>
            <a:spLocks noGrp="1"/>
          </p:cNvSpPr>
          <p:nvPr>
            <p:ph type="title"/>
          </p:nvPr>
        </p:nvSpPr>
        <p:spPr/>
        <p:txBody>
          <a:bodyPr>
            <a:noAutofit/>
          </a:bodyPr>
          <a:lstStyle/>
          <a:p>
            <a:pPr algn="ctr"/>
            <a:r>
              <a:rPr lang="en-US" sz="7200" b="0" dirty="0">
                <a:latin typeface="Helvetica" pitchFamily="2" charset="0"/>
              </a:rPr>
              <a:t>PROJECT SOPE </a:t>
            </a:r>
          </a:p>
        </p:txBody>
      </p:sp>
      <p:sp>
        <p:nvSpPr>
          <p:cNvPr id="3" name="Content Placeholder 2">
            <a:extLst>
              <a:ext uri="{FF2B5EF4-FFF2-40B4-BE49-F238E27FC236}">
                <a16:creationId xmlns:a16="http://schemas.microsoft.com/office/drawing/2014/main" id="{37916311-1D7D-30B6-82BF-A272835A9A4B}"/>
              </a:ext>
            </a:extLst>
          </p:cNvPr>
          <p:cNvSpPr>
            <a:spLocks noGrp="1"/>
          </p:cNvSpPr>
          <p:nvPr>
            <p:ph idx="1"/>
          </p:nvPr>
        </p:nvSpPr>
        <p:spPr/>
        <p:txBody>
          <a:bodyPr/>
          <a:lstStyle/>
          <a:p>
            <a:pPr marL="0" indent="0">
              <a:buNone/>
            </a:pPr>
            <a:endParaRPr lang="en-US" dirty="0"/>
          </a:p>
          <a:p>
            <a:pPr marL="0" indent="0">
              <a:buNone/>
            </a:pPr>
            <a:r>
              <a:rPr lang="en-US" sz="2000" dirty="0"/>
              <a:t>This project analyzes NYC 311 service request patterns to identify geographic disparities in complaint types and response times across boroughs, using statistical analysis, Random Forest modeling, and an interactive Shiny dashboard to support data-driven municipal decision-making.</a:t>
            </a:r>
          </a:p>
        </p:txBody>
      </p:sp>
    </p:spTree>
    <p:extLst>
      <p:ext uri="{BB962C8B-B14F-4D97-AF65-F5344CB8AC3E}">
        <p14:creationId xmlns:p14="http://schemas.microsoft.com/office/powerpoint/2010/main" val="970027267"/>
      </p:ext>
    </p:extLst>
  </p:cSld>
  <p:clrMapOvr>
    <a:masterClrMapping/>
  </p:clrMapOvr>
  <mc:AlternateContent xmlns:mc="http://schemas.openxmlformats.org/markup-compatibility/2006">
    <mc:Choice xmlns:p14="http://schemas.microsoft.com/office/powerpoint/2010/main" Requires="p14">
      <p:transition spd="slow" p14:dur="2000" advTm="39736"/>
    </mc:Choice>
    <mc:Fallback>
      <p:transition spd="slow" advTm="3973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6B41-0F31-0722-DE99-9177BF08CF71}"/>
              </a:ext>
            </a:extLst>
          </p:cNvPr>
          <p:cNvSpPr>
            <a:spLocks noGrp="1"/>
          </p:cNvSpPr>
          <p:nvPr>
            <p:ph type="title"/>
          </p:nvPr>
        </p:nvSpPr>
        <p:spPr/>
        <p:txBody>
          <a:bodyPr anchor="b">
            <a:noAutofit/>
          </a:bodyPr>
          <a:lstStyle/>
          <a:p>
            <a:pPr algn="ctr"/>
            <a:r>
              <a:rPr lang="en-US" sz="7200" b="0" dirty="0">
                <a:latin typeface="Helvetica" pitchFamily="2" charset="0"/>
              </a:rPr>
              <a:t>Problem &amp; Big Picture</a:t>
            </a:r>
          </a:p>
        </p:txBody>
      </p:sp>
      <p:sp>
        <p:nvSpPr>
          <p:cNvPr id="3" name="Content Placeholder 2">
            <a:extLst>
              <a:ext uri="{FF2B5EF4-FFF2-40B4-BE49-F238E27FC236}">
                <a16:creationId xmlns:a16="http://schemas.microsoft.com/office/drawing/2014/main" id="{F84D3C70-7CB5-4E61-AB3A-D93E7D223F98}"/>
              </a:ext>
            </a:extLst>
          </p:cNvPr>
          <p:cNvSpPr>
            <a:spLocks noGrp="1"/>
          </p:cNvSpPr>
          <p:nvPr>
            <p:ph idx="1"/>
          </p:nvPr>
        </p:nvSpPr>
        <p:spPr/>
        <p:txBody>
          <a:bodyPr anchor="ctr">
            <a:normAutofit fontScale="85000" lnSpcReduction="10000"/>
          </a:bodyPr>
          <a:lstStyle/>
          <a:p>
            <a:r>
              <a:rPr lang="en-US" b="1" dirty="0"/>
              <a:t>Rising Service Demand:</a:t>
            </a:r>
            <a:r>
              <a:rPr lang="en-US" dirty="0"/>
              <a:t> Public demand for non-emergency services has grown annually since 2019, reaching over 3.4 million requests in 2024, with a heavy concentration on quality-of-life issues such as illegal parking and noise.</a:t>
            </a:r>
          </a:p>
          <a:p>
            <a:r>
              <a:rPr lang="en-US" b="1" dirty="0"/>
              <a:t>Addressing Data Limitations:</a:t>
            </a:r>
            <a:r>
              <a:rPr lang="en-US" dirty="0"/>
              <a:t> Because raw data can be skewed by a small number of individuals making high-volume repeat requests, the new NYC311 Monitoring Tool analyzes trends at a neighborhood level to isolate genuine areas of high demand.</a:t>
            </a:r>
          </a:p>
          <a:p>
            <a:r>
              <a:rPr lang="en-US" b="1" dirty="0"/>
              <a:t>Uneven Distribution of Issues:</a:t>
            </a:r>
            <a:r>
              <a:rPr lang="en-US" dirty="0"/>
              <a:t> The bigger picture reveals that service needs are not distributed evenly; specific neighborhoods experience disproportionately high rates of complaints regarding housing maintenance and street conditions.</a:t>
            </a:r>
          </a:p>
          <a:p>
            <a:r>
              <a:rPr lang="en-US" b="1" dirty="0"/>
              <a:t>Shifting to Targeted Solutions:</a:t>
            </a:r>
            <a:r>
              <a:rPr lang="en-US" dirty="0"/>
              <a:t> City agencies could use geographic hotspot analysis and complaint frequency modeling to proactively allocate resources and address root causes before repeat complaints occur.</a:t>
            </a:r>
          </a:p>
          <a:p>
            <a:r>
              <a:rPr lang="en-US" b="1" dirty="0"/>
              <a:t>Aligning Resources with Need:</a:t>
            </a:r>
            <a:r>
              <a:rPr lang="en-US" dirty="0"/>
              <a:t> </a:t>
            </a:r>
            <a:r>
              <a:rPr lang="en-US" dirty="0" err="1"/>
              <a:t>Thisdata</a:t>
            </a:r>
            <a:r>
              <a:rPr lang="en-US" dirty="0"/>
              <a:t>-informed framework allows officials and the public to better align fiscal resources and operational planning with the specific, localized needs of New York City residents.</a:t>
            </a:r>
          </a:p>
          <a:p>
            <a:endParaRPr lang="en-US" dirty="0"/>
          </a:p>
        </p:txBody>
      </p:sp>
    </p:spTree>
    <p:extLst>
      <p:ext uri="{BB962C8B-B14F-4D97-AF65-F5344CB8AC3E}">
        <p14:creationId xmlns:p14="http://schemas.microsoft.com/office/powerpoint/2010/main" val="659307635"/>
      </p:ext>
    </p:extLst>
  </p:cSld>
  <p:clrMapOvr>
    <a:masterClrMapping/>
  </p:clrMapOvr>
  <mc:AlternateContent xmlns:mc="http://schemas.openxmlformats.org/markup-compatibility/2006">
    <mc:Choice xmlns:p14="http://schemas.microsoft.com/office/powerpoint/2010/main" Requires="p14">
      <p:transition spd="slow" p14:dur="2000" advTm="129301"/>
    </mc:Choice>
    <mc:Fallback>
      <p:transition spd="slow" advTm="12930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7B36D-28F2-A9DE-0E4C-86CEBC9059B2}"/>
              </a:ext>
            </a:extLst>
          </p:cNvPr>
          <p:cNvSpPr>
            <a:spLocks noGrp="1"/>
          </p:cNvSpPr>
          <p:nvPr>
            <p:ph type="title"/>
          </p:nvPr>
        </p:nvSpPr>
        <p:spPr/>
        <p:txBody>
          <a:bodyPr>
            <a:noAutofit/>
          </a:bodyPr>
          <a:lstStyle/>
          <a:p>
            <a:pPr algn="ctr"/>
            <a:r>
              <a:rPr lang="en-US" sz="7200" b="0" dirty="0">
                <a:latin typeface="Helvetica" pitchFamily="2" charset="0"/>
              </a:rPr>
              <a:t>Problem &amp; Big Picture</a:t>
            </a:r>
            <a:endParaRPr lang="en-US" sz="7200" dirty="0">
              <a:latin typeface="Helvetica" pitchFamily="2" charset="0"/>
            </a:endParaRPr>
          </a:p>
        </p:txBody>
      </p:sp>
      <p:sp>
        <p:nvSpPr>
          <p:cNvPr id="4" name="Rectangle 1">
            <a:extLst>
              <a:ext uri="{FF2B5EF4-FFF2-40B4-BE49-F238E27FC236}">
                <a16:creationId xmlns:a16="http://schemas.microsoft.com/office/drawing/2014/main" id="{46AB33C7-C66C-5D98-9D72-53B0D11C7F96}"/>
              </a:ext>
            </a:extLst>
          </p:cNvPr>
          <p:cNvSpPr>
            <a:spLocks noGrp="1" noChangeArrowheads="1"/>
          </p:cNvSpPr>
          <p:nvPr>
            <p:ph idx="1"/>
          </p:nvPr>
        </p:nvSpPr>
        <p:spPr bwMode="auto">
          <a:xfrm>
            <a:off x="1033272" y="2129249"/>
            <a:ext cx="9986181"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u="none" strike="noStrike" cap="none" normalizeH="0" baseline="0" dirty="0">
                <a:ln>
                  <a:noFill/>
                </a:ln>
                <a:solidFill>
                  <a:schemeClr val="tx1"/>
                </a:solidFill>
                <a:effectLst/>
                <a:latin typeface="Helvetica" pitchFamily="2" charset="0"/>
              </a:rPr>
              <a:t> Problem Scale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u="none" strike="noStrike" cap="none" normalizeH="0" baseline="0" dirty="0">
                <a:ln>
                  <a:noFill/>
                </a:ln>
                <a:solidFill>
                  <a:schemeClr val="tx1"/>
                </a:solidFill>
                <a:effectLst/>
                <a:latin typeface="Helvetica" pitchFamily="2" charset="0"/>
              </a:rPr>
              <a:t> </a:t>
            </a:r>
            <a:r>
              <a:rPr kumimoji="0" lang="en-US" altLang="en-US" u="none" strike="noStrike" cap="none" normalizeH="0" baseline="0" dirty="0">
                <a:ln>
                  <a:noFill/>
                </a:ln>
                <a:solidFill>
                  <a:schemeClr val="tx1"/>
                </a:solidFill>
                <a:effectLst/>
                <a:latin typeface="Helvetica Light" panose="020B0403020202020204" pitchFamily="34" charset="0"/>
              </a:rPr>
              <a:t>NYC received over 3.4 million 311 requests in 2024, driven by quality-of-life issues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u="none" strike="noStrike" cap="none" normalizeH="0" baseline="0" dirty="0">
                <a:ln>
                  <a:noFill/>
                </a:ln>
                <a:solidFill>
                  <a:schemeClr val="tx1"/>
                </a:solidFill>
                <a:effectLst/>
                <a:latin typeface="Helvetica Light" panose="020B0403020202020204" pitchFamily="34" charset="0"/>
              </a:rPr>
              <a:t> like illegal parking, noise, and housing maintenance.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u="none" strike="noStrike" cap="none" normalizeH="0" baseline="0" dirty="0">
              <a:ln>
                <a:noFill/>
              </a:ln>
              <a:solidFill>
                <a:schemeClr val="tx1"/>
              </a:solidFill>
              <a:effectLst/>
              <a:latin typeface="Helvetica"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u="none" strike="noStrike" cap="none" normalizeH="0" baseline="0" dirty="0">
                <a:ln>
                  <a:noFill/>
                </a:ln>
                <a:solidFill>
                  <a:schemeClr val="tx1"/>
                </a:solidFill>
                <a:effectLst/>
                <a:latin typeface="Helvetica" pitchFamily="2" charset="0"/>
              </a:rPr>
              <a:t>Disparity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u="none" strike="noStrike" cap="none" normalizeH="0" baseline="0" dirty="0">
                <a:ln>
                  <a:noFill/>
                </a:ln>
                <a:solidFill>
                  <a:schemeClr val="tx1"/>
                </a:solidFill>
                <a:effectLst/>
                <a:latin typeface="Helvetica Light" panose="020B0403020202020204" pitchFamily="34" charset="0"/>
              </a:rPr>
              <a:t>Per-capita, neighborhood-level analysis reveals uneven service needs—communities in the Bronx and Downtown Brooklyn face disproportionately high rates of housing and street-related complaints.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u="none" strike="noStrike" cap="none" normalizeH="0" baseline="0" dirty="0">
              <a:ln>
                <a:noFill/>
              </a:ln>
              <a:solidFill>
                <a:schemeClr val="tx1"/>
              </a:solidFill>
              <a:effectLst/>
              <a:latin typeface="Helvetica"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u="none" strike="noStrike" cap="none" normalizeH="0" baseline="0" dirty="0">
                <a:ln>
                  <a:noFill/>
                </a:ln>
                <a:solidFill>
                  <a:schemeClr val="tx1"/>
                </a:solidFill>
                <a:effectLst/>
                <a:latin typeface="Helvetica" pitchFamily="2" charset="0"/>
              </a:rPr>
              <a:t>Shift Needed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u="none" strike="noStrike" cap="none" normalizeH="0" baseline="0" dirty="0">
                <a:ln>
                  <a:noFill/>
                </a:ln>
                <a:solidFill>
                  <a:schemeClr val="tx1"/>
                </a:solidFill>
                <a:effectLst/>
                <a:latin typeface="Helvetica Light" panose="020B0403020202020204" pitchFamily="34" charset="0"/>
              </a:rPr>
              <a:t>Moving from reactive complaint processing to targeted, data-informed resource allocation can address root causes in the most affected areas.</a:t>
            </a:r>
          </a:p>
        </p:txBody>
      </p:sp>
    </p:spTree>
    <p:extLst>
      <p:ext uri="{BB962C8B-B14F-4D97-AF65-F5344CB8AC3E}">
        <p14:creationId xmlns:p14="http://schemas.microsoft.com/office/powerpoint/2010/main" val="1835964730"/>
      </p:ext>
    </p:extLst>
  </p:cSld>
  <p:clrMapOvr>
    <a:masterClrMapping/>
  </p:clrMapOvr>
  <mc:AlternateContent xmlns:mc="http://schemas.openxmlformats.org/markup-compatibility/2006">
    <mc:Choice xmlns:p14="http://schemas.microsoft.com/office/powerpoint/2010/main" Requires="p14">
      <p:transition spd="slow" p14:dur="2000" advTm="46028"/>
    </mc:Choice>
    <mc:Fallback>
      <p:transition spd="slow" advTm="4602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CD3922C-6B27-D46B-19F4-1446030E5167}"/>
              </a:ext>
            </a:extLst>
          </p:cNvPr>
          <p:cNvSpPr>
            <a:spLocks noGrp="1"/>
          </p:cNvSpPr>
          <p:nvPr>
            <p:ph type="title"/>
          </p:nvPr>
        </p:nvSpPr>
        <p:spPr/>
        <p:txBody>
          <a:bodyPr>
            <a:normAutofit fontScale="90000"/>
          </a:bodyPr>
          <a:lstStyle/>
          <a:p>
            <a:r>
              <a:rPr lang="en-US" b="0" dirty="0">
                <a:latin typeface="Helvetica" pitchFamily="2" charset="0"/>
              </a:rPr>
              <a:t>Using visualizations to understand 311 data</a:t>
            </a:r>
          </a:p>
        </p:txBody>
      </p:sp>
    </p:spTree>
    <p:extLst>
      <p:ext uri="{BB962C8B-B14F-4D97-AF65-F5344CB8AC3E}">
        <p14:creationId xmlns:p14="http://schemas.microsoft.com/office/powerpoint/2010/main" val="2323031125"/>
      </p:ext>
    </p:extLst>
  </p:cSld>
  <p:clrMapOvr>
    <a:masterClrMapping/>
  </p:clrMapOvr>
  <mc:AlternateContent xmlns:mc="http://schemas.openxmlformats.org/markup-compatibility/2006">
    <mc:Choice xmlns:p14="http://schemas.microsoft.com/office/powerpoint/2010/main" Requires="p14">
      <p:transition spd="slow" p14:dur="2000" advTm="666"/>
    </mc:Choice>
    <mc:Fallback>
      <p:transition spd="slow" advTm="66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5D2F0-9D67-4875-7C50-6CAB7E3CBDDB}"/>
              </a:ext>
            </a:extLst>
          </p:cNvPr>
          <p:cNvSpPr>
            <a:spLocks noGrp="1"/>
          </p:cNvSpPr>
          <p:nvPr>
            <p:ph type="title"/>
          </p:nvPr>
        </p:nvSpPr>
        <p:spPr/>
        <p:txBody>
          <a:bodyPr/>
          <a:lstStyle/>
          <a:p>
            <a:pPr algn="ctr"/>
            <a:r>
              <a:rPr lang="en-US" b="0" dirty="0">
                <a:latin typeface="Helvetica" pitchFamily="2" charset="0"/>
              </a:rPr>
              <a:t>Top 10 Complaint Types </a:t>
            </a:r>
          </a:p>
        </p:txBody>
      </p:sp>
      <p:pic>
        <p:nvPicPr>
          <p:cNvPr id="5" name="Content Placeholder 4" descr="A graph with colorful bars&#10;&#10;AI-generated content may be incorrect.">
            <a:extLst>
              <a:ext uri="{FF2B5EF4-FFF2-40B4-BE49-F238E27FC236}">
                <a16:creationId xmlns:a16="http://schemas.microsoft.com/office/drawing/2014/main" id="{A574211A-200A-49C4-EB10-C9DB4A0E07B2}"/>
              </a:ext>
            </a:extLst>
          </p:cNvPr>
          <p:cNvPicPr>
            <a:picLocks noGrp="1" noChangeAspect="1"/>
          </p:cNvPicPr>
          <p:nvPr>
            <p:ph idx="1"/>
          </p:nvPr>
        </p:nvPicPr>
        <p:blipFill>
          <a:blip r:embed="rId2"/>
          <a:stretch>
            <a:fillRect/>
          </a:stretch>
        </p:blipFill>
        <p:spPr>
          <a:xfrm>
            <a:off x="1792638" y="2203450"/>
            <a:ext cx="8357486" cy="4067175"/>
          </a:xfrm>
        </p:spPr>
      </p:pic>
    </p:spTree>
    <p:extLst>
      <p:ext uri="{BB962C8B-B14F-4D97-AF65-F5344CB8AC3E}">
        <p14:creationId xmlns:p14="http://schemas.microsoft.com/office/powerpoint/2010/main" val="2702277811"/>
      </p:ext>
    </p:extLst>
  </p:cSld>
  <p:clrMapOvr>
    <a:masterClrMapping/>
  </p:clrMapOvr>
  <mc:AlternateContent xmlns:mc="http://schemas.openxmlformats.org/markup-compatibility/2006">
    <mc:Choice xmlns:p14="http://schemas.microsoft.com/office/powerpoint/2010/main" Requires="p14">
      <p:transition spd="slow" p14:dur="2000" advTm="28296"/>
    </mc:Choice>
    <mc:Fallback>
      <p:transition spd="slow" advTm="2829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7FD0C-E9D0-0C3D-0265-55E065CF06F4}"/>
              </a:ext>
            </a:extLst>
          </p:cNvPr>
          <p:cNvSpPr>
            <a:spLocks noGrp="1"/>
          </p:cNvSpPr>
          <p:nvPr>
            <p:ph type="title"/>
          </p:nvPr>
        </p:nvSpPr>
        <p:spPr/>
        <p:txBody>
          <a:bodyPr/>
          <a:lstStyle/>
          <a:p>
            <a:pPr algn="ctr"/>
            <a:r>
              <a:rPr lang="en-US" b="0" dirty="0">
                <a:latin typeface="Helvetica" pitchFamily="2" charset="0"/>
              </a:rPr>
              <a:t>311 Complaints by Borough</a:t>
            </a:r>
          </a:p>
        </p:txBody>
      </p:sp>
      <p:pic>
        <p:nvPicPr>
          <p:cNvPr id="5" name="Content Placeholder 4" descr="A graph of different colored squares&#10;&#10;AI-generated content may be incorrect.">
            <a:extLst>
              <a:ext uri="{FF2B5EF4-FFF2-40B4-BE49-F238E27FC236}">
                <a16:creationId xmlns:a16="http://schemas.microsoft.com/office/drawing/2014/main" id="{347C0F80-565F-7472-DD9E-FE6630C730B1}"/>
              </a:ext>
            </a:extLst>
          </p:cNvPr>
          <p:cNvPicPr>
            <a:picLocks noGrp="1" noChangeAspect="1"/>
          </p:cNvPicPr>
          <p:nvPr>
            <p:ph idx="1"/>
          </p:nvPr>
        </p:nvPicPr>
        <p:blipFill>
          <a:blip r:embed="rId2"/>
          <a:stretch>
            <a:fillRect/>
          </a:stretch>
        </p:blipFill>
        <p:spPr>
          <a:xfrm>
            <a:off x="2166108" y="2203450"/>
            <a:ext cx="7610547" cy="4067175"/>
          </a:xfrm>
        </p:spPr>
      </p:pic>
    </p:spTree>
    <p:extLst>
      <p:ext uri="{BB962C8B-B14F-4D97-AF65-F5344CB8AC3E}">
        <p14:creationId xmlns:p14="http://schemas.microsoft.com/office/powerpoint/2010/main" val="2866255742"/>
      </p:ext>
    </p:extLst>
  </p:cSld>
  <p:clrMapOvr>
    <a:masterClrMapping/>
  </p:clrMapOvr>
  <mc:AlternateContent xmlns:mc="http://schemas.openxmlformats.org/markup-compatibility/2006">
    <mc:Choice xmlns:p14="http://schemas.microsoft.com/office/powerpoint/2010/main" Requires="p14">
      <p:transition spd="slow" p14:dur="2000" advTm="22105"/>
    </mc:Choice>
    <mc:Fallback>
      <p:transition spd="slow" advTm="2210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7B24-B2C2-ABFB-18FE-360A3E1DFF16}"/>
              </a:ext>
            </a:extLst>
          </p:cNvPr>
          <p:cNvSpPr>
            <a:spLocks noGrp="1"/>
          </p:cNvSpPr>
          <p:nvPr>
            <p:ph type="title"/>
          </p:nvPr>
        </p:nvSpPr>
        <p:spPr/>
        <p:txBody>
          <a:bodyPr/>
          <a:lstStyle/>
          <a:p>
            <a:pPr algn="ctr"/>
            <a:r>
              <a:rPr lang="en-US" b="0" dirty="0">
                <a:latin typeface="Helvetica" pitchFamily="2" charset="0"/>
              </a:rPr>
              <a:t>311 Complaints by Hour</a:t>
            </a:r>
          </a:p>
        </p:txBody>
      </p:sp>
      <p:pic>
        <p:nvPicPr>
          <p:cNvPr id="5" name="Content Placeholder 4" descr="A graph with a line&#10;&#10;AI-generated content may be incorrect.">
            <a:extLst>
              <a:ext uri="{FF2B5EF4-FFF2-40B4-BE49-F238E27FC236}">
                <a16:creationId xmlns:a16="http://schemas.microsoft.com/office/drawing/2014/main" id="{41BD4498-7867-A2CB-E6E8-C86D01C21283}"/>
              </a:ext>
            </a:extLst>
          </p:cNvPr>
          <p:cNvPicPr>
            <a:picLocks noGrp="1" noChangeAspect="1"/>
          </p:cNvPicPr>
          <p:nvPr>
            <p:ph idx="1"/>
          </p:nvPr>
        </p:nvPicPr>
        <p:blipFill>
          <a:blip r:embed="rId2"/>
          <a:stretch>
            <a:fillRect/>
          </a:stretch>
        </p:blipFill>
        <p:spPr>
          <a:xfrm>
            <a:off x="2173657" y="2203450"/>
            <a:ext cx="7595449" cy="4067175"/>
          </a:xfrm>
        </p:spPr>
      </p:pic>
    </p:spTree>
    <p:extLst>
      <p:ext uri="{BB962C8B-B14F-4D97-AF65-F5344CB8AC3E}">
        <p14:creationId xmlns:p14="http://schemas.microsoft.com/office/powerpoint/2010/main" val="4119477887"/>
      </p:ext>
    </p:extLst>
  </p:cSld>
  <p:clrMapOvr>
    <a:masterClrMapping/>
  </p:clrMapOvr>
  <mc:AlternateContent xmlns:mc="http://schemas.openxmlformats.org/markup-compatibility/2006">
    <mc:Choice xmlns:p14="http://schemas.microsoft.com/office/powerpoint/2010/main" Requires="p14">
      <p:transition spd="slow" p14:dur="2000" advTm="67903"/>
    </mc:Choice>
    <mc:Fallback>
      <p:transition spd="slow" advTm="6790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3AB45-CA9A-1466-3AAE-7B6A83D78AF8}"/>
              </a:ext>
            </a:extLst>
          </p:cNvPr>
          <p:cNvSpPr>
            <a:spLocks noGrp="1"/>
          </p:cNvSpPr>
          <p:nvPr>
            <p:ph type="title"/>
          </p:nvPr>
        </p:nvSpPr>
        <p:spPr/>
        <p:txBody>
          <a:bodyPr/>
          <a:lstStyle/>
          <a:p>
            <a:pPr algn="ctr"/>
            <a:r>
              <a:rPr lang="en-US" b="0" dirty="0">
                <a:latin typeface="Helvetica" pitchFamily="2" charset="0"/>
              </a:rPr>
              <a:t>311 Complaints by Day of Week</a:t>
            </a:r>
          </a:p>
        </p:txBody>
      </p:sp>
      <p:pic>
        <p:nvPicPr>
          <p:cNvPr id="5" name="Content Placeholder 4" descr="A graph of different colored bars&#10;&#10;AI-generated content may be incorrect.">
            <a:extLst>
              <a:ext uri="{FF2B5EF4-FFF2-40B4-BE49-F238E27FC236}">
                <a16:creationId xmlns:a16="http://schemas.microsoft.com/office/drawing/2014/main" id="{B8EB5652-C4A9-B0E3-3CC7-6EC51E041296}"/>
              </a:ext>
            </a:extLst>
          </p:cNvPr>
          <p:cNvPicPr>
            <a:picLocks noGrp="1" noChangeAspect="1"/>
          </p:cNvPicPr>
          <p:nvPr>
            <p:ph idx="1"/>
          </p:nvPr>
        </p:nvPicPr>
        <p:blipFill>
          <a:blip r:embed="rId2"/>
          <a:stretch>
            <a:fillRect/>
          </a:stretch>
        </p:blipFill>
        <p:spPr>
          <a:xfrm>
            <a:off x="2070814" y="2203450"/>
            <a:ext cx="7801135" cy="4067175"/>
          </a:xfrm>
        </p:spPr>
      </p:pic>
    </p:spTree>
    <p:extLst>
      <p:ext uri="{BB962C8B-B14F-4D97-AF65-F5344CB8AC3E}">
        <p14:creationId xmlns:p14="http://schemas.microsoft.com/office/powerpoint/2010/main" val="743307205"/>
      </p:ext>
    </p:extLst>
  </p:cSld>
  <p:clrMapOvr>
    <a:masterClrMapping/>
  </p:clrMapOvr>
  <mc:AlternateContent xmlns:mc="http://schemas.openxmlformats.org/markup-compatibility/2006">
    <mc:Choice xmlns:p14="http://schemas.microsoft.com/office/powerpoint/2010/main" Requires="p14">
      <p:transition spd="slow" p14:dur="2000" advTm="40175"/>
    </mc:Choice>
    <mc:Fallback>
      <p:transition spd="slow" advTm="4017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AA38CB-3390-D538-41A6-1487A68AB4A3}"/>
              </a:ext>
            </a:extLst>
          </p:cNvPr>
          <p:cNvSpPr>
            <a:spLocks noGrp="1"/>
          </p:cNvSpPr>
          <p:nvPr>
            <p:ph type="title"/>
          </p:nvPr>
        </p:nvSpPr>
        <p:spPr/>
        <p:txBody>
          <a:bodyPr/>
          <a:lstStyle/>
          <a:p>
            <a:pPr algn="ctr"/>
            <a:r>
              <a:rPr lang="en-US" b="0" dirty="0">
                <a:latin typeface="Helvetica" pitchFamily="2" charset="0"/>
              </a:rPr>
              <a:t>Complaint Frequency Analysis by Day &amp; Hour</a:t>
            </a:r>
          </a:p>
        </p:txBody>
      </p:sp>
      <p:pic>
        <p:nvPicPr>
          <p:cNvPr id="7" name="Content Placeholder 6" descr="A screen shot of a graph&#10;&#10;AI-generated content may be incorrect.">
            <a:extLst>
              <a:ext uri="{FF2B5EF4-FFF2-40B4-BE49-F238E27FC236}">
                <a16:creationId xmlns:a16="http://schemas.microsoft.com/office/drawing/2014/main" id="{F6A7A3B5-C4C3-13E0-4FEC-B72DBB56870F}"/>
              </a:ext>
            </a:extLst>
          </p:cNvPr>
          <p:cNvPicPr>
            <a:picLocks noGrp="1" noChangeAspect="1"/>
          </p:cNvPicPr>
          <p:nvPr>
            <p:ph idx="1"/>
          </p:nvPr>
        </p:nvPicPr>
        <p:blipFill>
          <a:blip r:embed="rId2"/>
          <a:stretch>
            <a:fillRect/>
          </a:stretch>
        </p:blipFill>
        <p:spPr>
          <a:xfrm>
            <a:off x="1809629" y="1563688"/>
            <a:ext cx="8433043" cy="4572000"/>
          </a:xfrm>
        </p:spPr>
      </p:pic>
    </p:spTree>
    <p:extLst>
      <p:ext uri="{BB962C8B-B14F-4D97-AF65-F5344CB8AC3E}">
        <p14:creationId xmlns:p14="http://schemas.microsoft.com/office/powerpoint/2010/main" val="2945452964"/>
      </p:ext>
    </p:extLst>
  </p:cSld>
  <p:clrMapOvr>
    <a:masterClrMapping/>
  </p:clrMapOvr>
  <mc:AlternateContent xmlns:mc="http://schemas.openxmlformats.org/markup-compatibility/2006">
    <mc:Choice xmlns:p14="http://schemas.microsoft.com/office/powerpoint/2010/main" Requires="p14">
      <p:transition spd="slow" p14:dur="2000" advTm="55647"/>
    </mc:Choice>
    <mc:Fallback>
      <p:transition spd="slow" advTm="5564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F2E77-BF39-BA24-13C8-BA3309A21724}"/>
              </a:ext>
            </a:extLst>
          </p:cNvPr>
          <p:cNvSpPr>
            <a:spLocks noGrp="1"/>
          </p:cNvSpPr>
          <p:nvPr>
            <p:ph type="title"/>
          </p:nvPr>
        </p:nvSpPr>
        <p:spPr/>
        <p:txBody>
          <a:bodyPr/>
          <a:lstStyle/>
          <a:p>
            <a:pPr algn="ctr"/>
            <a:r>
              <a:rPr lang="en-US" b="0" dirty="0">
                <a:latin typeface="Helvetica" pitchFamily="2" charset="0"/>
              </a:rPr>
              <a:t>Top 5 Complaints by Borough</a:t>
            </a:r>
          </a:p>
        </p:txBody>
      </p:sp>
      <p:pic>
        <p:nvPicPr>
          <p:cNvPr id="5" name="Content Placeholder 4" descr="A screenshot of a graph&#10;&#10;AI-generated content may be incorrect.">
            <a:extLst>
              <a:ext uri="{FF2B5EF4-FFF2-40B4-BE49-F238E27FC236}">
                <a16:creationId xmlns:a16="http://schemas.microsoft.com/office/drawing/2014/main" id="{60BD3859-D7A1-0A10-A0DB-1F086C726105}"/>
              </a:ext>
            </a:extLst>
          </p:cNvPr>
          <p:cNvPicPr>
            <a:picLocks noGrp="1" noChangeAspect="1"/>
          </p:cNvPicPr>
          <p:nvPr>
            <p:ph idx="1"/>
          </p:nvPr>
        </p:nvPicPr>
        <p:blipFill>
          <a:blip r:embed="rId2"/>
          <a:stretch>
            <a:fillRect/>
          </a:stretch>
        </p:blipFill>
        <p:spPr>
          <a:xfrm>
            <a:off x="1851959" y="1563688"/>
            <a:ext cx="8348382" cy="4572000"/>
          </a:xfrm>
        </p:spPr>
      </p:pic>
    </p:spTree>
    <p:extLst>
      <p:ext uri="{BB962C8B-B14F-4D97-AF65-F5344CB8AC3E}">
        <p14:creationId xmlns:p14="http://schemas.microsoft.com/office/powerpoint/2010/main" val="3734066494"/>
      </p:ext>
    </p:extLst>
  </p:cSld>
  <p:clrMapOvr>
    <a:masterClrMapping/>
  </p:clrMapOvr>
  <mc:AlternateContent xmlns:mc="http://schemas.openxmlformats.org/markup-compatibility/2006">
    <mc:Choice xmlns:p14="http://schemas.microsoft.com/office/powerpoint/2010/main" Requires="p14">
      <p:transition spd="slow" p14:dur="2000" advTm="85311"/>
    </mc:Choice>
    <mc:Fallback>
      <p:transition spd="slow" advTm="8531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8E6A1-9CDB-3602-AD85-678ACD92CF5D}"/>
              </a:ext>
            </a:extLst>
          </p:cNvPr>
          <p:cNvSpPr>
            <a:spLocks noGrp="1"/>
          </p:cNvSpPr>
          <p:nvPr>
            <p:ph type="title"/>
          </p:nvPr>
        </p:nvSpPr>
        <p:spPr/>
        <p:txBody>
          <a:bodyPr/>
          <a:lstStyle/>
          <a:p>
            <a:pPr algn="ctr"/>
            <a:r>
              <a:rPr lang="en-US" b="0" dirty="0">
                <a:latin typeface="Helvetica" pitchFamily="2" charset="0"/>
              </a:rPr>
              <a:t>Response Time by Borough</a:t>
            </a:r>
          </a:p>
        </p:txBody>
      </p:sp>
      <p:pic>
        <p:nvPicPr>
          <p:cNvPr id="5" name="Content Placeholder 4" descr="A graph of different colored squares&#10;&#10;AI-generated content may be incorrect.">
            <a:extLst>
              <a:ext uri="{FF2B5EF4-FFF2-40B4-BE49-F238E27FC236}">
                <a16:creationId xmlns:a16="http://schemas.microsoft.com/office/drawing/2014/main" id="{972DD98A-EB5D-02C9-D5BD-65DB1EFF618F}"/>
              </a:ext>
            </a:extLst>
          </p:cNvPr>
          <p:cNvPicPr>
            <a:picLocks noGrp="1" noChangeAspect="1"/>
          </p:cNvPicPr>
          <p:nvPr>
            <p:ph idx="1"/>
          </p:nvPr>
        </p:nvPicPr>
        <p:blipFill>
          <a:blip r:embed="rId2"/>
          <a:stretch>
            <a:fillRect/>
          </a:stretch>
        </p:blipFill>
        <p:spPr>
          <a:xfrm>
            <a:off x="1157195" y="1563688"/>
            <a:ext cx="9737911" cy="4572000"/>
          </a:xfrm>
        </p:spPr>
      </p:pic>
    </p:spTree>
    <p:extLst>
      <p:ext uri="{BB962C8B-B14F-4D97-AF65-F5344CB8AC3E}">
        <p14:creationId xmlns:p14="http://schemas.microsoft.com/office/powerpoint/2010/main" val="474699516"/>
      </p:ext>
    </p:extLst>
  </p:cSld>
  <p:clrMapOvr>
    <a:masterClrMapping/>
  </p:clrMapOvr>
  <mc:AlternateContent xmlns:mc="http://schemas.openxmlformats.org/markup-compatibility/2006">
    <mc:Choice xmlns:p14="http://schemas.microsoft.com/office/powerpoint/2010/main" Requires="p14">
      <p:transition spd="slow" p14:dur="2000" advTm="18565"/>
    </mc:Choice>
    <mc:Fallback>
      <p:transition spd="slow" advTm="1856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2CA83-7578-8162-9927-EA17609A0151}"/>
              </a:ext>
            </a:extLst>
          </p:cNvPr>
          <p:cNvSpPr>
            <a:spLocks noGrp="1"/>
          </p:cNvSpPr>
          <p:nvPr>
            <p:ph type="title"/>
          </p:nvPr>
        </p:nvSpPr>
        <p:spPr/>
        <p:txBody>
          <a:bodyPr/>
          <a:lstStyle/>
          <a:p>
            <a:r>
              <a:rPr lang="en-US" dirty="0"/>
              <a:t>Response Time by Borough</a:t>
            </a:r>
          </a:p>
        </p:txBody>
      </p:sp>
      <p:sp>
        <p:nvSpPr>
          <p:cNvPr id="3" name="Content Placeholder 2">
            <a:extLst>
              <a:ext uri="{FF2B5EF4-FFF2-40B4-BE49-F238E27FC236}">
                <a16:creationId xmlns:a16="http://schemas.microsoft.com/office/drawing/2014/main" id="{9D401F60-1990-52A3-06C1-7E43560E1C8F}"/>
              </a:ext>
            </a:extLst>
          </p:cNvPr>
          <p:cNvSpPr>
            <a:spLocks noGrp="1"/>
          </p:cNvSpPr>
          <p:nvPr>
            <p:ph idx="1"/>
          </p:nvPr>
        </p:nvSpPr>
        <p:spPr/>
        <p:txBody>
          <a:bodyPr/>
          <a:lstStyle/>
          <a:p>
            <a:r>
              <a:rPr lang="en-US" dirty="0"/>
              <a:t>Across all boroughs, NYC 311 requests are typically resolved within a few hours. However, substantial variability exists—particularly in Manhattan and Brooklyn—where a subset of cases experience significantly longer response times. This suggests that while average service levels are strong, targeted interventions may be needed to reduce extreme delays and improve consistency.</a:t>
            </a:r>
          </a:p>
        </p:txBody>
      </p:sp>
    </p:spTree>
    <p:extLst>
      <p:ext uri="{BB962C8B-B14F-4D97-AF65-F5344CB8AC3E}">
        <p14:creationId xmlns:p14="http://schemas.microsoft.com/office/powerpoint/2010/main" val="387430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C81D5-AE80-4C2A-8445-AB69CBFE4CBF}"/>
              </a:ext>
            </a:extLst>
          </p:cNvPr>
          <p:cNvSpPr>
            <a:spLocks noGrp="1"/>
          </p:cNvSpPr>
          <p:nvPr>
            <p:ph type="title"/>
          </p:nvPr>
        </p:nvSpPr>
        <p:spPr/>
        <p:txBody>
          <a:bodyPr/>
          <a:lstStyle/>
          <a:p>
            <a:pPr algn="ctr"/>
            <a:r>
              <a:rPr lang="en-US" b="0" dirty="0">
                <a:latin typeface="Helvetica" pitchFamily="2" charset="0"/>
              </a:rPr>
              <a:t>Analyzing Random Forest Data</a:t>
            </a:r>
          </a:p>
        </p:txBody>
      </p:sp>
      <p:pic>
        <p:nvPicPr>
          <p:cNvPr id="9" name="Content Placeholder 8" descr="A graph with a red line&#10;&#10;AI-generated content may be incorrect.">
            <a:extLst>
              <a:ext uri="{FF2B5EF4-FFF2-40B4-BE49-F238E27FC236}">
                <a16:creationId xmlns:a16="http://schemas.microsoft.com/office/drawing/2014/main" id="{66E3B0D4-6C0C-5552-8243-EB045055B0D6}"/>
              </a:ext>
            </a:extLst>
          </p:cNvPr>
          <p:cNvPicPr>
            <a:picLocks noGrp="1" noChangeAspect="1"/>
          </p:cNvPicPr>
          <p:nvPr>
            <p:ph idx="1"/>
          </p:nvPr>
        </p:nvPicPr>
        <p:blipFill>
          <a:blip r:embed="rId2"/>
          <a:stretch>
            <a:fillRect/>
          </a:stretch>
        </p:blipFill>
        <p:spPr>
          <a:xfrm>
            <a:off x="2037080" y="1563688"/>
            <a:ext cx="7978140" cy="4572000"/>
          </a:xfrm>
        </p:spPr>
      </p:pic>
    </p:spTree>
    <p:extLst>
      <p:ext uri="{BB962C8B-B14F-4D97-AF65-F5344CB8AC3E}">
        <p14:creationId xmlns:p14="http://schemas.microsoft.com/office/powerpoint/2010/main" val="4087841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1F8D8-D6F8-37B4-87AC-30B46B743D63}"/>
              </a:ext>
            </a:extLst>
          </p:cNvPr>
          <p:cNvSpPr>
            <a:spLocks noGrp="1"/>
          </p:cNvSpPr>
          <p:nvPr>
            <p:ph type="title"/>
          </p:nvPr>
        </p:nvSpPr>
        <p:spPr/>
        <p:txBody>
          <a:bodyPr/>
          <a:lstStyle/>
          <a:p>
            <a:r>
              <a:rPr lang="en-US">
                <a:latin typeface="Helvetica" pitchFamily="2" charset="0"/>
              </a:rPr>
              <a:t>Predicting Response Time with Machine Learning</a:t>
            </a:r>
            <a:endParaRPr lang="en-US" dirty="0">
              <a:latin typeface="Helvetica" pitchFamily="2" charset="0"/>
            </a:endParaRPr>
          </a:p>
        </p:txBody>
      </p:sp>
      <p:sp>
        <p:nvSpPr>
          <p:cNvPr id="3" name="Content Placeholder 2">
            <a:extLst>
              <a:ext uri="{FF2B5EF4-FFF2-40B4-BE49-F238E27FC236}">
                <a16:creationId xmlns:a16="http://schemas.microsoft.com/office/drawing/2014/main" id="{503FEED9-70EC-2615-67BC-27D492FB66FF}"/>
              </a:ext>
            </a:extLst>
          </p:cNvPr>
          <p:cNvSpPr>
            <a:spLocks noGrp="1"/>
          </p:cNvSpPr>
          <p:nvPr>
            <p:ph idx="1"/>
          </p:nvPr>
        </p:nvSpPr>
        <p:spPr>
          <a:xfrm>
            <a:off x="1033272" y="1412240"/>
            <a:ext cx="9985248" cy="4723384"/>
          </a:xfrm>
        </p:spPr>
        <p:txBody>
          <a:bodyPr/>
          <a:lstStyle/>
          <a:p>
            <a:pPr marL="0" indent="0">
              <a:buNone/>
            </a:pPr>
            <a:r>
              <a:rPr lang="en-US" b="1" dirty="0">
                <a:latin typeface="Helvetica" pitchFamily="2" charset="0"/>
              </a:rPr>
              <a:t>R² = 0.71</a:t>
            </a:r>
          </a:p>
          <a:p>
            <a:pPr marL="0" indent="0">
              <a:buNone/>
            </a:pPr>
            <a:r>
              <a:rPr lang="en-US" dirty="0"/>
              <a:t>71% of the variation in response time can be explained by my model's predictors (complaint type, borough, hour, day of week, month). </a:t>
            </a:r>
          </a:p>
          <a:p>
            <a:pPr marL="0" indent="0">
              <a:buNone/>
            </a:pPr>
            <a:r>
              <a:rPr lang="en-US" dirty="0"/>
              <a:t>An R² of 0.71 is strong for real-world municipal data. The remaining 29% of unexplained variance comes from factors not in your dataset </a:t>
            </a:r>
          </a:p>
          <a:p>
            <a:pPr marL="0" indent="0">
              <a:buNone/>
            </a:pPr>
            <a:endParaRPr lang="en-US" b="1" dirty="0">
              <a:latin typeface="Helvetica" pitchFamily="2" charset="0"/>
            </a:endParaRPr>
          </a:p>
          <a:p>
            <a:pPr marL="0" indent="0">
              <a:buNone/>
            </a:pPr>
            <a:r>
              <a:rPr lang="en-US" b="1" dirty="0">
                <a:latin typeface="Helvetica" pitchFamily="2" charset="0"/>
              </a:rPr>
              <a:t>RMSE = 11.14 hours</a:t>
            </a:r>
          </a:p>
          <a:p>
            <a:pPr marL="0" indent="0">
              <a:buNone/>
            </a:pPr>
            <a:r>
              <a:rPr lang="en-US" dirty="0"/>
              <a:t>Predictions are accurate within approximately  0.46 days(about half a day) sufficient for operational triage and resource planning.</a:t>
            </a:r>
          </a:p>
        </p:txBody>
      </p:sp>
    </p:spTree>
    <p:extLst>
      <p:ext uri="{BB962C8B-B14F-4D97-AF65-F5344CB8AC3E}">
        <p14:creationId xmlns:p14="http://schemas.microsoft.com/office/powerpoint/2010/main" val="231180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D6AF-CB06-D645-A002-9627E038526D}"/>
              </a:ext>
            </a:extLst>
          </p:cNvPr>
          <p:cNvSpPr>
            <a:spLocks noGrp="1"/>
          </p:cNvSpPr>
          <p:nvPr>
            <p:ph type="title"/>
          </p:nvPr>
        </p:nvSpPr>
        <p:spPr/>
        <p:txBody>
          <a:bodyPr/>
          <a:lstStyle/>
          <a:p>
            <a:r>
              <a:rPr lang="en-US" dirty="0"/>
              <a:t>Biggest Challenge</a:t>
            </a:r>
          </a:p>
        </p:txBody>
      </p:sp>
      <p:sp>
        <p:nvSpPr>
          <p:cNvPr id="3" name="Content Placeholder 2">
            <a:extLst>
              <a:ext uri="{FF2B5EF4-FFF2-40B4-BE49-F238E27FC236}">
                <a16:creationId xmlns:a16="http://schemas.microsoft.com/office/drawing/2014/main" id="{1F388A38-816D-5D71-BA75-1D91E7443855}"/>
              </a:ext>
            </a:extLst>
          </p:cNvPr>
          <p:cNvSpPr>
            <a:spLocks noGrp="1"/>
          </p:cNvSpPr>
          <p:nvPr>
            <p:ph idx="1"/>
          </p:nvPr>
        </p:nvSpPr>
        <p:spPr/>
        <p:txBody>
          <a:bodyPr/>
          <a:lstStyle/>
          <a:p>
            <a:r>
              <a:rPr lang="en-US" dirty="0"/>
              <a:t>The biggest challenge I had in completing. This code was learning how to build, update and modify a Shiny app. The process felt similar to developing a User Experience(UX) application which is quite a challenging feature.</a:t>
            </a:r>
          </a:p>
          <a:p>
            <a:pPr marL="0" indent="0">
              <a:buNone/>
            </a:pPr>
            <a:endParaRPr lang="en-US" dirty="0"/>
          </a:p>
          <a:p>
            <a:r>
              <a:rPr lang="en-US" dirty="0"/>
              <a:t>My second challenge was developing meaningful insight from the data. I used three API’s in this project and only one from NYC open data allowed me to get a max of 80000 data points. Since 311 gather thousands of service calls in a day, 80,0000 data pints  approximates to a  few data of data. With the variety of visualizations, I was able to with trial and error develop meaningful plots. </a:t>
            </a:r>
          </a:p>
        </p:txBody>
      </p:sp>
    </p:spTree>
    <p:extLst>
      <p:ext uri="{BB962C8B-B14F-4D97-AF65-F5344CB8AC3E}">
        <p14:creationId xmlns:p14="http://schemas.microsoft.com/office/powerpoint/2010/main" val="600692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E08082-5126-986C-5657-B1CEBA0863B5}"/>
              </a:ext>
            </a:extLst>
          </p:cNvPr>
          <p:cNvSpPr>
            <a:spLocks noGrp="1"/>
          </p:cNvSpPr>
          <p:nvPr>
            <p:ph type="ctrTitle"/>
          </p:nvPr>
        </p:nvSpPr>
        <p:spPr/>
        <p:txBody>
          <a:bodyPr anchor="b">
            <a:normAutofit/>
          </a:bodyPr>
          <a:lstStyle/>
          <a:p>
            <a:r>
              <a:rPr lang="en-US" b="0" dirty="0">
                <a:hlinkClick r:id="rId2">
                  <a:extLst>
                    <a:ext uri="{A12FA001-AC4F-418D-AE19-62706E023703}">
                      <ahyp:hlinkClr xmlns:ahyp="http://schemas.microsoft.com/office/drawing/2018/hyperlinkcolor" val="tx"/>
                    </a:ext>
                  </a:extLst>
                </a:hlinkClick>
              </a:rPr>
              <a:t>311 Shiny App</a:t>
            </a:r>
            <a:endParaRPr lang="en-US" b="0" dirty="0"/>
          </a:p>
        </p:txBody>
      </p:sp>
      <p:sp>
        <p:nvSpPr>
          <p:cNvPr id="7" name="TextBox 6">
            <a:extLst>
              <a:ext uri="{FF2B5EF4-FFF2-40B4-BE49-F238E27FC236}">
                <a16:creationId xmlns:a16="http://schemas.microsoft.com/office/drawing/2014/main" id="{05A798A0-24B0-7B59-62AB-B4BC6E320046}"/>
              </a:ext>
            </a:extLst>
          </p:cNvPr>
          <p:cNvSpPr txBox="1"/>
          <p:nvPr/>
        </p:nvSpPr>
        <p:spPr>
          <a:xfrm>
            <a:off x="6614160" y="5852160"/>
            <a:ext cx="184731" cy="369332"/>
          </a:xfrm>
          <a:prstGeom prst="rect">
            <a:avLst/>
          </a:prstGeom>
          <a:noFill/>
        </p:spPr>
        <p:txBody>
          <a:bodyPr wrap="none" rtlCol="0">
            <a:spAutoFit/>
          </a:bodyPr>
          <a:lstStyle/>
          <a:p>
            <a:endParaRPr lang="en-US" dirty="0"/>
          </a:p>
        </p:txBody>
      </p:sp>
      <p:sp>
        <p:nvSpPr>
          <p:cNvPr id="10" name="Subtitle 9">
            <a:extLst>
              <a:ext uri="{FF2B5EF4-FFF2-40B4-BE49-F238E27FC236}">
                <a16:creationId xmlns:a16="http://schemas.microsoft.com/office/drawing/2014/main" id="{1A12CFB8-6D47-B07F-A338-C61B297B46C4}"/>
              </a:ext>
            </a:extLst>
          </p:cNvPr>
          <p:cNvSpPr>
            <a:spLocks noGrp="1"/>
          </p:cNvSpPr>
          <p:nvPr>
            <p:ph type="subTitle" idx="1"/>
          </p:nvPr>
        </p:nvSpPr>
        <p:spPr/>
        <p:txBody>
          <a:bodyPr/>
          <a:lstStyle/>
          <a:p>
            <a:r>
              <a:rPr lang="en-US" cap="none" dirty="0">
                <a:latin typeface="Helvetica" pitchFamily="2" charset="0"/>
              </a:rPr>
              <a:t>An interactive look at important 311 with a borough focused analysis</a:t>
            </a:r>
          </a:p>
        </p:txBody>
      </p:sp>
    </p:spTree>
    <p:extLst>
      <p:ext uri="{BB962C8B-B14F-4D97-AF65-F5344CB8AC3E}">
        <p14:creationId xmlns:p14="http://schemas.microsoft.com/office/powerpoint/2010/main" val="4023145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F7CCA-E630-D143-1441-93EDD8BDB7E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ADB2A9B-42BF-D3AB-1F7B-7FEF777F7FD5}"/>
              </a:ext>
            </a:extLst>
          </p:cNvPr>
          <p:cNvSpPr>
            <a:spLocks noGrp="1"/>
          </p:cNvSpPr>
          <p:nvPr>
            <p:ph idx="1"/>
          </p:nvPr>
        </p:nvSpPr>
        <p:spPr/>
        <p:txBody>
          <a:bodyPr>
            <a:normAutofit fontScale="92500" lnSpcReduction="10000"/>
          </a:bodyPr>
          <a:lstStyle/>
          <a:p>
            <a:pPr marL="0" indent="0">
              <a:buNone/>
            </a:pPr>
            <a:r>
              <a:rPr lang="en-US" dirty="0"/>
              <a:t>City of New York. (2025, December 8). 311 service requests from 2010 to present. NYC Open Data. https://</a:t>
            </a:r>
            <a:r>
              <a:rPr lang="en-US" dirty="0" err="1"/>
              <a:t>data.cityofnewyork.us</a:t>
            </a:r>
            <a:r>
              <a:rPr lang="en-US" dirty="0"/>
              <a:t>/Social-Services/311-Service-Requests-from-2010- to-Present/erm2-nwe9/</a:t>
            </a:r>
            <a:r>
              <a:rPr lang="en-US" dirty="0" err="1"/>
              <a:t>about_data</a:t>
            </a:r>
            <a:endParaRPr lang="en-US" dirty="0"/>
          </a:p>
          <a:p>
            <a:endParaRPr lang="en-US" dirty="0"/>
          </a:p>
          <a:p>
            <a:pPr marL="0" indent="0">
              <a:buNone/>
            </a:pPr>
            <a:r>
              <a:rPr lang="en-US" dirty="0" err="1"/>
              <a:t>Géron</a:t>
            </a:r>
            <a:r>
              <a:rPr lang="en-US" dirty="0"/>
              <a:t>, A. (2022). Machine learning project checklist. In Hands-on machine learning with Scikit-Learn, </a:t>
            </a:r>
            <a:r>
              <a:rPr lang="en-US" dirty="0" err="1"/>
              <a:t>Keras</a:t>
            </a:r>
            <a:r>
              <a:rPr lang="en-US" dirty="0"/>
              <a:t>, and TensorFlow (3rd ed.). O'Reilly Media.</a:t>
            </a:r>
          </a:p>
          <a:p>
            <a:endParaRPr lang="en-US" dirty="0"/>
          </a:p>
          <a:p>
            <a:pPr marL="0" indent="0">
              <a:buNone/>
            </a:pPr>
            <a:r>
              <a:rPr lang="en-US" dirty="0"/>
              <a:t>Grant, C. (2025). NYC 311 requests [Interactive dashboard]. Shiny https://candacegrant2025.shinyapps.io/NYC_311_Requests/</a:t>
            </a:r>
          </a:p>
          <a:p>
            <a:endParaRPr lang="en-US" dirty="0"/>
          </a:p>
          <a:p>
            <a:pPr marL="0" indent="0">
              <a:buNone/>
            </a:pPr>
            <a:r>
              <a:rPr lang="en-US" dirty="0"/>
              <a:t>Office of the New York State Comptroller. (2025, May). NYC311 monitoring tool </a:t>
            </a:r>
          </a:p>
          <a:p>
            <a:pPr marL="0" indent="0">
              <a:buNone/>
            </a:pPr>
            <a:r>
              <a:rPr lang="en-US" dirty="0"/>
              <a:t>(Report 3-2026). https://</a:t>
            </a:r>
            <a:r>
              <a:rPr lang="en-US" dirty="0" err="1"/>
              <a:t>www.osc.ny.gov</a:t>
            </a:r>
            <a:r>
              <a:rPr lang="en-US" dirty="0"/>
              <a:t>/files/reports/pdf/report-3-2026.pdf</a:t>
            </a:r>
          </a:p>
          <a:p>
            <a:endParaRPr lang="en-US" dirty="0"/>
          </a:p>
          <a:p>
            <a:endParaRPr lang="en-US" dirty="0"/>
          </a:p>
        </p:txBody>
      </p:sp>
    </p:spTree>
    <p:extLst>
      <p:ext uri="{BB962C8B-B14F-4D97-AF65-F5344CB8AC3E}">
        <p14:creationId xmlns:p14="http://schemas.microsoft.com/office/powerpoint/2010/main" val="209847311"/>
      </p:ext>
    </p:extLst>
  </p:cSld>
  <p:clrMapOvr>
    <a:masterClrMapping/>
  </p:clrMapOvr>
  <mc:AlternateContent xmlns:mc="http://schemas.openxmlformats.org/markup-compatibility/2006">
    <mc:Choice xmlns:p14="http://schemas.microsoft.com/office/powerpoint/2010/main" Requires="p14">
      <p:transition spd="slow" p14:dur="2000" advTm="2900"/>
    </mc:Choice>
    <mc:Fallback>
      <p:transition spd="slow" advTm="2900"/>
    </mc:Fallback>
  </mc:AlternateContent>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Custom 3">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docProps/app.xml><?xml version="1.0" encoding="utf-8"?>
<Properties xmlns="http://schemas.openxmlformats.org/officeDocument/2006/extended-properties" xmlns:vt="http://schemas.openxmlformats.org/officeDocument/2006/docPropsVTypes">
  <Template/>
  <TotalTime>1616</TotalTime>
  <Words>778</Words>
  <Application>Microsoft Macintosh PowerPoint</Application>
  <PresentationFormat>Widescreen</PresentationFormat>
  <Paragraphs>54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Avenir Next LT Pro</vt:lpstr>
      <vt:lpstr>Avenir Next LT Pro Light</vt:lpstr>
      <vt:lpstr>Helvetica</vt:lpstr>
      <vt:lpstr>Helvetica Light</vt:lpstr>
      <vt:lpstr>Neue Haas Grotesk Text Pro</vt:lpstr>
      <vt:lpstr>GradientRise</vt:lpstr>
      <vt:lpstr>DATA 607-FINAL PROJECT</vt:lpstr>
      <vt:lpstr>PROJECT SOPE </vt:lpstr>
      <vt:lpstr>Problem &amp; Big Picture</vt:lpstr>
      <vt:lpstr>Problem &amp; Big Picture</vt:lpstr>
      <vt:lpstr>Using visualizations to understand 311 data</vt:lpstr>
      <vt:lpstr>Top 10 Complaint Types </vt:lpstr>
      <vt:lpstr>311 Complaints by Borough</vt:lpstr>
      <vt:lpstr>311 Complaints by Hour</vt:lpstr>
      <vt:lpstr>311 Complaints by Day of Week</vt:lpstr>
      <vt:lpstr>Complaint Frequency Analysis by Day &amp; Hour</vt:lpstr>
      <vt:lpstr>Top 5 Complaints by Borough</vt:lpstr>
      <vt:lpstr>Response Time by Borough</vt:lpstr>
      <vt:lpstr>Response Time by Borough</vt:lpstr>
      <vt:lpstr>Analyzing Random Forest Data</vt:lpstr>
      <vt:lpstr>Predicting Response Time with Machine Learning</vt:lpstr>
      <vt:lpstr>Biggest Challenge</vt:lpstr>
      <vt:lpstr>311 Shiny App</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Guest User</dc:creator>
  <cp:lastModifiedBy>Guest User</cp:lastModifiedBy>
  <cp:revision>6</cp:revision>
  <dcterms:created xsi:type="dcterms:W3CDTF">2025-12-12T20:45:04Z</dcterms:created>
  <dcterms:modified xsi:type="dcterms:W3CDTF">2025-12-15T03:29:38Z</dcterms:modified>
</cp:coreProperties>
</file>